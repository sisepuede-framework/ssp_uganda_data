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7" r:id="rId10"/>
    <p:sldId id="265" r:id="rId11"/>
    <p:sldId id="268" r:id="rId12"/>
    <p:sldId id="266" r:id="rId13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BB093-2C41-6145-A8BC-C7CFBBA8780C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1D892-55FD-C245-85A5-ECFBB4CE5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88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1D892-55FD-C245-85A5-ECFBB4CE5E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27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1727-6AFF-D603-780D-A96CC3B10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72A55-BCE9-1F3D-1B7A-A5FAB1343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73AD6-1D73-6851-1A0F-39BEF89D6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B5625-7BEC-7ACC-6CFE-10002CE3A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1D892-55FD-C245-85A5-ECFBB4CE5E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5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9D49-1227-DB81-1148-0DFF14337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87AFA-B3B3-B68B-D1B6-D3AAC239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3E892-0133-17BA-113E-6CC07D77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D3592-5BAD-0A15-6E46-22430F53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0E22B-C82E-EE69-D5BB-C3317B24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0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AE9B-919B-B872-DDB9-B15F1A68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3F98C-8A6A-C2FF-E2BC-8DF9A8008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64AC3-2B87-47E0-A45E-F3945C14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03CE9-B31B-5D0B-FABF-C78622A4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C4FD0-6817-EED4-7985-5239CB79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6B47-1666-46AF-A79D-B07A8A18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5D0BA-89A5-677D-7C21-066D9F1AB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CC99-3C88-39BE-8B0A-13314D35A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0EAB8-7E38-6D82-1378-48234711A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A2A81-E437-CC9F-5745-4205CA90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0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BD03-3922-2599-ABFC-512F49041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BB476-C7B5-B06B-DF98-4700A26AD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0EB5E-8161-149E-D35B-9D572557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7657F-5995-5EF6-7D14-4F286BB8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4875E-4328-500A-E454-E12523DD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E5172-AEE8-3ACA-8D36-4A6AC032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6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4D15-BBE4-3391-4DBC-C061FFC1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8E3E9-EE76-8A4F-4140-957D2D922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678E2-09E2-1C67-FBB1-426D2F3C4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3D770-5058-7BFB-D947-9CFE0EF26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91F46-2425-4618-1092-4C5F2FFB3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BDF9D-5561-14AF-0390-E535113D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16CB99-5CD9-8220-BD44-A9592055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91A5E-811E-AE21-ED99-E5DFC15E9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A47A-AE91-E185-2D48-04870C5A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BB906-91E1-A209-9B18-558187BD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0724A-6F55-CB70-BE05-DACB3D4B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3191B-55D5-3049-54EB-8852F73F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61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C47F90-A4A0-0A3C-E42A-D2628C80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01D42-BA6D-B13A-137B-3EF9A866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62FCA-2422-9556-87C1-FCF42CD6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8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8F59-8AA8-9298-CC35-6E47A3CB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7742-2F08-9A41-7E82-77C78D425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3391C-AEAF-68EB-3C32-9A3F1947C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2C3B-AD18-4EF2-775E-3172357F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A50E9-343E-5A70-3E71-814F7B740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D010C-1468-1BC5-B8DA-C252443A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E204-B4B6-FCC9-2091-CB3D5E283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C6B74-5402-7CEA-970A-E2F13DF22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10922-6308-B6E0-6EE3-3520FA7E8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5E902-3D47-9ECE-9F67-DBBE9A90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495E7-4385-F68F-BA2A-B4DC5258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31273-3B32-62D4-D509-59F8F575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3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D041-1D1D-DB95-3648-500C58EA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B737C-9ABE-76A7-9AE3-F64F9471F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2355F-54FB-0080-09B9-BDD905C75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53FD7-E668-EB54-49B4-F0216A9E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78DE6-2569-B370-5523-5245A00F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8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E5CDB-15B2-BF58-0EE8-81A35305F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CC846-A2D4-BE84-DA0B-953EB89D1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143D8-B000-B496-B72A-A04AB826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80C46-51D5-5A16-F250-F71D580D2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081DB-C8C3-C13C-17EA-34571828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7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6C16D-DF56-2AA5-FB53-C5B9ADCE2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886E4-76B5-4C81-89AF-64F059697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4F14C-BB00-C4EB-D690-BF0DFEC4A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B722F-E9FA-724E-969C-6371CF946C7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B8EEB-D208-AC31-5E1A-110A7B2DD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C5D94-2A44-F41D-87A3-DDBFBAD74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7479E-10B3-E74F-90B4-9C64A13CB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3E21-2C30-4BF4-D8C0-2ACDE61198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the Surrogate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F42E8-6066-53A2-0FE0-364EAAB3C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8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96C-4883-7E34-D769-1454BBF3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surrogate model or metamodel</a:t>
            </a:r>
          </a:p>
        </p:txBody>
      </p:sp>
      <p:pic>
        <p:nvPicPr>
          <p:cNvPr id="1026" name="Picture 2" descr="An introduction to surrogate modeling, Part I: fundamentals | Towards Data  Science">
            <a:extLst>
              <a:ext uri="{FF2B5EF4-FFF2-40B4-BE49-F238E27FC236}">
                <a16:creationId xmlns:a16="http://schemas.microsoft.com/office/drawing/2014/main" id="{1D6CBDA6-A07A-4992-7A41-35BF456C67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468" y="1825625"/>
            <a:ext cx="696706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D5B5B5-87AE-A09F-18BA-DD882C05BDB2}"/>
              </a:ext>
            </a:extLst>
          </p:cNvPr>
          <p:cNvSpPr txBox="1"/>
          <p:nvPr/>
        </p:nvSpPr>
        <p:spPr>
          <a:xfrm>
            <a:off x="147784" y="6479245"/>
            <a:ext cx="11206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from: https://</a:t>
            </a:r>
            <a:r>
              <a:rPr lang="en-US" sz="1200" dirty="0" err="1"/>
              <a:t>towardsdatascience.com</a:t>
            </a:r>
            <a:r>
              <a:rPr lang="en-US" sz="1200" dirty="0"/>
              <a:t>/an-introduction-to-surrogate-modeling-part-i-fundamentals-84697ce4d241/</a:t>
            </a:r>
          </a:p>
        </p:txBody>
      </p:sp>
    </p:spTree>
    <p:extLst>
      <p:ext uri="{BB962C8B-B14F-4D97-AF65-F5344CB8AC3E}">
        <p14:creationId xmlns:p14="http://schemas.microsoft.com/office/powerpoint/2010/main" val="3432388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70BA-515B-8590-287C-0AA8ED07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talk about the design parameters or input data</a:t>
            </a:r>
          </a:p>
        </p:txBody>
      </p:sp>
      <p:pic>
        <p:nvPicPr>
          <p:cNvPr id="4" name="Picture 2" descr="An introduction to surrogate modeling, Part I: fundamentals | Towards Data  Science">
            <a:extLst>
              <a:ext uri="{FF2B5EF4-FFF2-40B4-BE49-F238E27FC236}">
                <a16:creationId xmlns:a16="http://schemas.microsoft.com/office/drawing/2014/main" id="{9DECBF3E-4A31-BD84-6D85-573988C0DE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4" t="13116" r="70517" b="28430"/>
          <a:stretch>
            <a:fillRect/>
          </a:stretch>
        </p:blipFill>
        <p:spPr bwMode="auto">
          <a:xfrm>
            <a:off x="4892565" y="1690688"/>
            <a:ext cx="2406869" cy="419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45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8662-430D-5D12-D7E6-DC04F090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SiSePuede</a:t>
            </a:r>
            <a:r>
              <a:rPr lang="en-US" dirty="0"/>
              <a:t> we have levers and uncertainties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AD08E4-A4E4-FFAC-7D66-632814B75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245347"/>
            <a:ext cx="7013028" cy="1288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F7FF36-813A-6188-06A2-86A4D8A0C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490" y="2005127"/>
            <a:ext cx="2856318" cy="4251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A42F0D-B234-7DB0-DD15-C55D5C9DB294}"/>
              </a:ext>
            </a:extLst>
          </p:cNvPr>
          <p:cNvSpPr txBox="1"/>
          <p:nvPr/>
        </p:nvSpPr>
        <p:spPr>
          <a:xfrm>
            <a:off x="838200" y="2876015"/>
            <a:ext cx="832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Levers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3A478D-497A-16DC-B3C8-2EC6C944134A}"/>
              </a:ext>
            </a:extLst>
          </p:cNvPr>
          <p:cNvSpPr txBox="1"/>
          <p:nvPr/>
        </p:nvSpPr>
        <p:spPr>
          <a:xfrm>
            <a:off x="8633490" y="1635795"/>
            <a:ext cx="1531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Uncertainties</a:t>
            </a:r>
          </a:p>
        </p:txBody>
      </p:sp>
    </p:spTree>
    <p:extLst>
      <p:ext uri="{BB962C8B-B14F-4D97-AF65-F5344CB8AC3E}">
        <p14:creationId xmlns:p14="http://schemas.microsoft.com/office/powerpoint/2010/main" val="80671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E2780-F7BE-6071-B4DB-E643D070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ensemble of simulations is created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97061-6730-84B0-91D3-1A94B97E3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stressing the levers and uncertainties </a:t>
            </a:r>
            <a:r>
              <a:rPr lang="en-US" b="1" dirty="0"/>
              <a:t>variable trajectory groups </a:t>
            </a:r>
            <a:r>
              <a:rPr lang="en-US" dirty="0"/>
              <a:t>using LHS sampling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50AF6-90A9-C33C-FD33-68D4C8713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7772400" cy="194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79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D2CBD-F69A-0FF9-61EE-CFFD51EB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8E7BF-0584-EED2-264A-A4442B17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let’s talk about the output</a:t>
            </a:r>
          </a:p>
        </p:txBody>
      </p:sp>
      <p:pic>
        <p:nvPicPr>
          <p:cNvPr id="1026" name="Picture 2" descr="An introduction to surrogate modeling, Part I: fundamentals | Towards Data  Science">
            <a:extLst>
              <a:ext uri="{FF2B5EF4-FFF2-40B4-BE49-F238E27FC236}">
                <a16:creationId xmlns:a16="http://schemas.microsoft.com/office/drawing/2014/main" id="{5C1655FD-737F-9EA8-9038-B4E2FB7419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26" t="16015" b="26015"/>
          <a:stretch>
            <a:fillRect/>
          </a:stretch>
        </p:blipFill>
        <p:spPr bwMode="auto">
          <a:xfrm>
            <a:off x="5121465" y="1860331"/>
            <a:ext cx="1949069" cy="369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381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AF8A-9985-2F11-5E48-23969111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SiSePuede</a:t>
            </a:r>
            <a:r>
              <a:rPr lang="en-US" dirty="0"/>
              <a:t> we have several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C67D8-BE72-443F-3660-80E8C360C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Emissions</a:t>
            </a:r>
          </a:p>
          <a:p>
            <a:r>
              <a:rPr lang="en-US" dirty="0"/>
              <a:t>Cost and benefits</a:t>
            </a:r>
          </a:p>
          <a:p>
            <a:r>
              <a:rPr lang="en-US" dirty="0"/>
              <a:t>Jobs</a:t>
            </a:r>
          </a:p>
        </p:txBody>
      </p:sp>
    </p:spTree>
    <p:extLst>
      <p:ext uri="{BB962C8B-B14F-4D97-AF65-F5344CB8AC3E}">
        <p14:creationId xmlns:p14="http://schemas.microsoft.com/office/powerpoint/2010/main" val="251696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FA98-E854-D81D-ADD6-169B3F93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simulation ensemble generates multiple future </a:t>
            </a:r>
            <a:r>
              <a:rPr lang="en-US" dirty="0" err="1"/>
              <a:t>outptus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7DBF6D-38F9-3765-0FDF-ADCE2593B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550" y="1975644"/>
            <a:ext cx="999490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3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E7E6-78FB-D701-1C69-A3846309A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So... What can we do with this ensemble data?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834A2-242B-DF87-A9A9-26D01E21B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95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2718F-3D1F-53FA-3C15-84DE4521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train an ML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081E1-DAE1-D4DC-27D3-8E45ED901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that learns the patterns between the levers, uncertainties, and the different model outputs</a:t>
            </a:r>
          </a:p>
        </p:txBody>
      </p:sp>
      <p:pic>
        <p:nvPicPr>
          <p:cNvPr id="5" name="Picture 2" descr="An introduction to surrogate modeling, Part I: fundamentals | Towards Data  Science">
            <a:extLst>
              <a:ext uri="{FF2B5EF4-FFF2-40B4-BE49-F238E27FC236}">
                <a16:creationId xmlns:a16="http://schemas.microsoft.com/office/drawing/2014/main" id="{7E66039D-5EED-03BF-1906-C052CD3BC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351" y="2894022"/>
            <a:ext cx="5762237" cy="359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79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FEBF-8E21-76EF-00C6-8E4F69B2E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98B3-25C5-C6A1-5F14-1E54781F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would we want to do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63BD0-69E4-833F-D2C1-292A6A45A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good model could allow us to predict the </a:t>
            </a:r>
            <a:r>
              <a:rPr lang="en-US" dirty="0" err="1"/>
              <a:t>sisepuede</a:t>
            </a:r>
            <a:r>
              <a:rPr lang="en-US" dirty="0"/>
              <a:t> outputs given a set of levers and uncertainties in a much faster way than running the simulation</a:t>
            </a:r>
          </a:p>
        </p:txBody>
      </p:sp>
    </p:spTree>
    <p:extLst>
      <p:ext uri="{BB962C8B-B14F-4D97-AF65-F5344CB8AC3E}">
        <p14:creationId xmlns:p14="http://schemas.microsoft.com/office/powerpoint/2010/main" val="18913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7446-49CB-CA3D-F65F-A9203448B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current workflow we have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9576A-6B6E-1DC8-E5E4-F9512225F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Pull the ensemble data from AWS S3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Prepare the training data (ETL, data cleaning, etc.)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Train and evaluate the models.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Save the trained model in a .</a:t>
            </a:r>
            <a:r>
              <a:rPr lang="en-US" dirty="0" err="1"/>
              <a:t>pkl</a:t>
            </a:r>
            <a:r>
              <a:rPr lang="en-US" dirty="0"/>
              <a:t> file that can be reload and use for production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9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200</Words>
  <Application>Microsoft Macintosh PowerPoint</Application>
  <PresentationFormat>Widescreen</PresentationFormat>
  <Paragraphs>27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Introduction to the Surrogate Model</vt:lpstr>
      <vt:lpstr>What is a surrogate model or metamodel</vt:lpstr>
      <vt:lpstr>Let’s talk about the design parameters or input data</vt:lpstr>
      <vt:lpstr>In SiSePuede we have levers and uncertainties</vt:lpstr>
      <vt:lpstr>An ensemble of simulations is created </vt:lpstr>
      <vt:lpstr>Now, let’s talk about the output</vt:lpstr>
      <vt:lpstr>In SiSePuede we have several outputs</vt:lpstr>
      <vt:lpstr>The simulation ensemble generates multiple future outptus</vt:lpstr>
      <vt:lpstr>So... What can we do with this ensemble data?</vt:lpstr>
      <vt:lpstr>We can train an ML model</vt:lpstr>
      <vt:lpstr>Why would we want to do this?</vt:lpstr>
      <vt:lpstr>The current workflow we have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Antonio Robledo Lara</dc:creator>
  <cp:lastModifiedBy>Juan Antonio Robledo Lara</cp:lastModifiedBy>
  <cp:revision>1</cp:revision>
  <dcterms:created xsi:type="dcterms:W3CDTF">2026-04-10T16:59:39Z</dcterms:created>
  <dcterms:modified xsi:type="dcterms:W3CDTF">2026-04-10T18:08:57Z</dcterms:modified>
</cp:coreProperties>
</file>