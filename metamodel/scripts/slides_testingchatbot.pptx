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 id="261" r:id="rId4"/>
    <p:sldId id="259" r:id="rId5"/>
    <p:sldId id="262" r:id="rId6"/>
    <p:sldId id="263" r:id="rId7"/>
    <p:sldId id="264" r:id="rId8"/>
    <p:sldId id="265"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6" d="100"/>
          <a:sy n="116" d="100"/>
        </p:scale>
        <p:origin x="6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8"/>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491185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072494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633" y="1709738"/>
            <a:ext cx="10512862" cy="2852737"/>
          </a:xfrm>
        </p:spPr>
        <p:txBody>
          <a:bodyPr anchor="b"/>
          <a:lstStyle>
            <a:lvl1pPr>
              <a:defRPr sz="5998"/>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6080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7982" y="1825625"/>
            <a:ext cx="5180251"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0592" y="1825625"/>
            <a:ext cx="5180251"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280788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569" y="365126"/>
            <a:ext cx="10512862"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570" y="2505075"/>
            <a:ext cx="5156444"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0593" y="2505075"/>
            <a:ext cx="518183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23812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35419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08094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570" y="457200"/>
            <a:ext cx="3931213" cy="1600200"/>
          </a:xfrm>
        </p:spPr>
        <p:txBody>
          <a:bodyPr anchor="b"/>
          <a:lstStyle>
            <a:lvl1pPr>
              <a:defRPr sz="3199"/>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537373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570" y="457200"/>
            <a:ext cx="3931213" cy="1600200"/>
          </a:xfrm>
        </p:spPr>
        <p:txBody>
          <a:bodyPr anchor="b"/>
          <a:lstStyle>
            <a:lvl1pPr>
              <a:defRPr sz="3199"/>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1838" y="987426"/>
            <a:ext cx="6170593" cy="4873625"/>
          </a:xfrm>
        </p:spPr>
        <p:txBody>
          <a:bodyPr anchor="t"/>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s-MX"/>
              <a:t>Haz clic en el icono para agregar una imagen</a:t>
            </a:r>
            <a:endParaRPr lang="en-US" dirty="0"/>
          </a:p>
        </p:txBody>
      </p:sp>
      <p:sp>
        <p:nvSpPr>
          <p:cNvPr id="4" name="Text Placeholder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72232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58986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365125"/>
            <a:ext cx="2628215"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7982" y="365125"/>
            <a:ext cx="7732286"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717006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5/26/26</a:t>
            </a:fld>
            <a:endParaRPr lang="en-US"/>
          </a:p>
        </p:txBody>
      </p:sp>
      <p:sp>
        <p:nvSpPr>
          <p:cNvPr id="5" name="Footer Placeholder 4"/>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06704012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a:xfrm>
            <a:off x="1065212" y="2751892"/>
            <a:ext cx="10058400" cy="677108"/>
          </a:xfrm>
          <a:prstGeom prst="rect">
            <a:avLst/>
          </a:prstGeom>
          <a:noFill/>
        </p:spPr>
        <p:txBody>
          <a:bodyPr wrap="square">
            <a:spAutoFit/>
          </a:bodyPr>
          <a:lstStyle/>
          <a:p>
            <a:pPr algn="ctr"/>
            <a:r>
              <a:rPr sz="3800" b="1" i="0" dirty="0"/>
              <a:t>Uganda Climate Policy Chatbot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chemeClr val="accent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highlight>
                <a:srgbClr val="000080"/>
              </a:highlight>
            </a:endParaRPr>
          </a:p>
        </p:txBody>
      </p:sp>
      <p:sp>
        <p:nvSpPr>
          <p:cNvPr id="3" name="TextBox 2"/>
          <p:cNvSpPr txBox="1"/>
          <p:nvPr/>
        </p:nvSpPr>
        <p:spPr>
          <a:xfrm>
            <a:off x="274320" y="109728"/>
            <a:ext cx="11612880" cy="307777"/>
          </a:xfrm>
          <a:prstGeom prst="rect">
            <a:avLst/>
          </a:prstGeom>
          <a:noFill/>
        </p:spPr>
        <p:txBody>
          <a:bodyPr wrap="square">
            <a:spAutoFit/>
          </a:bodyPr>
          <a:lstStyle/>
          <a:p>
            <a:pPr algn="l"/>
            <a:r>
              <a:rPr sz="1400" b="1" i="0" dirty="0">
                <a:solidFill>
                  <a:schemeClr val="accent1">
                    <a:lumMod val="50000"/>
                  </a:schemeClr>
                </a:solidFill>
              </a:rPr>
              <a:t>PART 1 — What the Chatbot Ran  (from interaction log)</a:t>
            </a:r>
          </a:p>
        </p:txBody>
      </p:sp>
      <p:sp>
        <p:nvSpPr>
          <p:cNvPr id="4" name="Rectangle 3"/>
          <p:cNvSpPr/>
          <p:nvPr/>
        </p:nvSpPr>
        <p:spPr>
          <a:xfrm>
            <a:off x="274320" y="594360"/>
            <a:ext cx="11640312" cy="77724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594360"/>
            <a:ext cx="1828800" cy="256032"/>
          </a:xfrm>
          <a:prstGeom prst="rect">
            <a:avLst/>
          </a:prstGeom>
          <a:noFill/>
        </p:spPr>
        <p:txBody>
          <a:bodyPr wrap="square">
            <a:spAutoFit/>
          </a:bodyPr>
          <a:lstStyle/>
          <a:p>
            <a:pPr algn="l"/>
            <a:r>
              <a:rPr sz="950" b="0" i="0" dirty="0">
                <a:solidFill>
                  <a:srgbClr val="8A8F9E"/>
                </a:solidFill>
              </a:rPr>
              <a:t>User question:</a:t>
            </a:r>
          </a:p>
        </p:txBody>
      </p:sp>
      <p:sp>
        <p:nvSpPr>
          <p:cNvPr id="6" name="TextBox 5"/>
          <p:cNvSpPr txBox="1"/>
          <p:nvPr/>
        </p:nvSpPr>
        <p:spPr>
          <a:xfrm>
            <a:off x="457200" y="841248"/>
            <a:ext cx="11247120" cy="276999"/>
          </a:xfrm>
          <a:prstGeom prst="rect">
            <a:avLst/>
          </a:prstGeom>
          <a:noFill/>
        </p:spPr>
        <p:txBody>
          <a:bodyPr wrap="square">
            <a:spAutoFit/>
          </a:bodyPr>
          <a:lstStyle/>
          <a:p>
            <a:pPr algn="l"/>
            <a:r>
              <a:rPr sz="1200" b="1" i="1" dirty="0"/>
              <a:t>"What happens if there is a strong policy for clean cooking, an increase in reforestation, and better practices in agriculture?"</a:t>
            </a:r>
          </a:p>
        </p:txBody>
      </p:sp>
      <p:sp>
        <p:nvSpPr>
          <p:cNvPr id="8" name="TextBox 7"/>
          <p:cNvSpPr txBox="1"/>
          <p:nvPr/>
        </p:nvSpPr>
        <p:spPr>
          <a:xfrm>
            <a:off x="274320" y="1783080"/>
            <a:ext cx="8229600" cy="253916"/>
          </a:xfrm>
          <a:prstGeom prst="rect">
            <a:avLst/>
          </a:prstGeom>
          <a:noFill/>
        </p:spPr>
        <p:txBody>
          <a:bodyPr wrap="square">
            <a:spAutoFit/>
          </a:bodyPr>
          <a:lstStyle/>
          <a:p>
            <a:pPr algn="l"/>
            <a:r>
              <a:rPr sz="1050" b="1" i="0" dirty="0"/>
              <a:t>Levers activated by the agent (10 groups):</a:t>
            </a:r>
          </a:p>
        </p:txBody>
      </p:sp>
      <p:graphicFrame>
        <p:nvGraphicFramePr>
          <p:cNvPr id="9" name="Table 8"/>
          <p:cNvGraphicFramePr>
            <a:graphicFrameLocks noGrp="1"/>
          </p:cNvGraphicFramePr>
          <p:nvPr>
            <p:extLst>
              <p:ext uri="{D42A27DB-BD31-4B8C-83A1-F6EECF244321}">
                <p14:modId xmlns:p14="http://schemas.microsoft.com/office/powerpoint/2010/main" val="1417809680"/>
              </p:ext>
            </p:extLst>
          </p:nvPr>
        </p:nvGraphicFramePr>
        <p:xfrm>
          <a:off x="274320" y="2103120"/>
          <a:ext cx="4678680" cy="276606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234442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673100">
                  <a:extLst>
                    <a:ext uri="{9D8B030D-6E8A-4147-A177-3AD203B41FA5}">
                      <a16:colId xmlns:a16="http://schemas.microsoft.com/office/drawing/2014/main" val="20004"/>
                    </a:ext>
                  </a:extLst>
                </a:gridCol>
              </a:tblGrid>
              <a:tr h="251460">
                <a:tc>
                  <a:txBody>
                    <a:bodyPr/>
                    <a:lstStyle/>
                    <a:p>
                      <a:r>
                        <a:rPr sz="950" b="1">
                          <a:solidFill>
                            <a:schemeClr val="tx1"/>
                          </a:solidFill>
                        </a:rPr>
                        <a:t>Group ID</a:t>
                      </a:r>
                    </a:p>
                  </a:txBody>
                  <a:tcPr marL="50800" marR="50800" marT="25400" marB="25400">
                    <a:solidFill>
                      <a:schemeClr val="bg1"/>
                    </a:solidFill>
                  </a:tcPr>
                </a:tc>
                <a:tc>
                  <a:txBody>
                    <a:bodyPr/>
                    <a:lstStyle/>
                    <a:p>
                      <a:r>
                        <a:rPr sz="950" b="1">
                          <a:solidFill>
                            <a:schemeClr val="tx1"/>
                          </a:solidFill>
                        </a:rPr>
                        <a:t>Policy Lever</a:t>
                      </a:r>
                    </a:p>
                  </a:txBody>
                  <a:tcPr marL="50800" marR="50800" marT="25400" marB="25400">
                    <a:solidFill>
                      <a:schemeClr val="bg1"/>
                    </a:solidFill>
                  </a:tcPr>
                </a:tc>
                <a:tc>
                  <a:txBody>
                    <a:bodyPr/>
                    <a:lstStyle/>
                    <a:p>
                      <a:r>
                        <a:rPr sz="950" b="1">
                          <a:solidFill>
                            <a:schemeClr val="tx1"/>
                          </a:solidFill>
                        </a:rPr>
                        <a:t>Sector</a:t>
                      </a:r>
                    </a:p>
                  </a:txBody>
                  <a:tcPr marL="50800" marR="50800" marT="25400" marB="25400">
                    <a:solidFill>
                      <a:schemeClr val="bg1"/>
                    </a:solidFill>
                  </a:tcPr>
                </a:tc>
                <a:tc>
                  <a:txBody>
                    <a:bodyPr/>
                    <a:lstStyle/>
                    <a:p>
                      <a:r>
                        <a:rPr lang="es-419" sz="950" b="1" dirty="0">
                          <a:solidFill>
                            <a:schemeClr val="tx1"/>
                          </a:solidFill>
                        </a:rPr>
                        <a:t>LHS value</a:t>
                      </a:r>
                      <a:endParaRPr sz="950" b="1" dirty="0">
                        <a:solidFill>
                          <a:schemeClr val="tx1"/>
                        </a:solidFill>
                      </a:endParaRPr>
                    </a:p>
                  </a:txBody>
                  <a:tcPr marL="50800" marR="50800" marT="25400" marB="25400">
                    <a:solidFill>
                      <a:schemeClr val="bg1"/>
                    </a:solidFill>
                  </a:tcPr>
                </a:tc>
                <a:extLst>
                  <a:ext uri="{0D108BD9-81ED-4DB2-BD59-A6C34878D82A}">
                    <a16:rowId xmlns:a16="http://schemas.microsoft.com/office/drawing/2014/main" val="10000"/>
                  </a:ext>
                </a:extLst>
              </a:tr>
              <a:tr h="251460">
                <a:tc>
                  <a:txBody>
                    <a:bodyPr/>
                    <a:lstStyle/>
                    <a:p>
                      <a:r>
                        <a:rPr sz="900" b="0" dirty="0">
                          <a:solidFill>
                            <a:schemeClr val="tx1"/>
                          </a:solidFill>
                        </a:rPr>
                        <a:t>34</a:t>
                      </a:r>
                    </a:p>
                  </a:txBody>
                  <a:tcPr marL="50800" marR="50800" marT="25400" marB="25400">
                    <a:solidFill>
                      <a:schemeClr val="bg1"/>
                    </a:solidFill>
                  </a:tcPr>
                </a:tc>
                <a:tc>
                  <a:txBody>
                    <a:bodyPr/>
                    <a:lstStyle/>
                    <a:p>
                      <a:r>
                        <a:rPr sz="900" b="0">
                          <a:solidFill>
                            <a:schemeClr val="tx1"/>
                          </a:solidFill>
                        </a:rPr>
                        <a:t>Building Fuel Mix Shift to Clean Fuels</a:t>
                      </a:r>
                    </a:p>
                  </a:txBody>
                  <a:tcPr marL="50800" marR="50800" marT="25400" marB="25400">
                    <a:solidFill>
                      <a:schemeClr val="bg1"/>
                    </a:solidFill>
                  </a:tcPr>
                </a:tc>
                <a:tc>
                  <a:txBody>
                    <a:bodyPr/>
                    <a:lstStyle/>
                    <a:p>
                      <a:r>
                        <a:rPr sz="900" b="0">
                          <a:solidFill>
                            <a:schemeClr val="tx1"/>
                          </a:solidFill>
                        </a:rPr>
                        <a:t>Buildings</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1"/>
                  </a:ext>
                </a:extLst>
              </a:tr>
              <a:tr h="251460">
                <a:tc>
                  <a:txBody>
                    <a:bodyPr/>
                    <a:lstStyle/>
                    <a:p>
                      <a:r>
                        <a:rPr sz="900" b="0">
                          <a:solidFill>
                            <a:schemeClr val="tx1"/>
                          </a:solidFill>
                        </a:rPr>
                        <a:t>33</a:t>
                      </a:r>
                    </a:p>
                  </a:txBody>
                  <a:tcPr marL="50800" marR="50800" marT="25400" marB="25400">
                    <a:solidFill>
                      <a:schemeClr val="bg1"/>
                    </a:solidFill>
                  </a:tcPr>
                </a:tc>
                <a:tc>
                  <a:txBody>
                    <a:bodyPr/>
                    <a:lstStyle/>
                    <a:p>
                      <a:r>
                        <a:rPr sz="900" b="0">
                          <a:solidFill>
                            <a:schemeClr val="tx1"/>
                          </a:solidFill>
                        </a:rPr>
                        <a:t>Biomass Cooking Stove Efficiency</a:t>
                      </a:r>
                    </a:p>
                  </a:txBody>
                  <a:tcPr marL="50800" marR="50800" marT="25400" marB="25400">
                    <a:solidFill>
                      <a:schemeClr val="bg1"/>
                    </a:solidFill>
                  </a:tcPr>
                </a:tc>
                <a:tc>
                  <a:txBody>
                    <a:bodyPr/>
                    <a:lstStyle/>
                    <a:p>
                      <a:r>
                        <a:rPr sz="900" b="0">
                          <a:solidFill>
                            <a:schemeClr val="tx1"/>
                          </a:solidFill>
                        </a:rPr>
                        <a:t>Buildings</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2"/>
                  </a:ext>
                </a:extLst>
              </a:tr>
              <a:tr h="251460">
                <a:tc>
                  <a:txBody>
                    <a:bodyPr/>
                    <a:lstStyle/>
                    <a:p>
                      <a:r>
                        <a:rPr sz="900" b="0">
                          <a:solidFill>
                            <a:schemeClr val="tx1"/>
                          </a:solidFill>
                        </a:rPr>
                        <a:t>31</a:t>
                      </a:r>
                    </a:p>
                  </a:txBody>
                  <a:tcPr marL="50800" marR="50800" marT="25400" marB="25400">
                    <a:solidFill>
                      <a:schemeClr val="bg1"/>
                    </a:solidFill>
                  </a:tcPr>
                </a:tc>
                <a:tc>
                  <a:txBody>
                    <a:bodyPr/>
                    <a:lstStyle/>
                    <a:p>
                      <a:r>
                        <a:rPr sz="900" b="0">
                          <a:solidFill>
                            <a:schemeClr val="tx1"/>
                          </a:solidFill>
                        </a:rPr>
                        <a:t>Building Heat Energy Demand Reduction</a:t>
                      </a:r>
                    </a:p>
                  </a:txBody>
                  <a:tcPr marL="50800" marR="50800" marT="25400" marB="25400">
                    <a:solidFill>
                      <a:schemeClr val="bg1"/>
                    </a:solidFill>
                  </a:tcPr>
                </a:tc>
                <a:tc>
                  <a:txBody>
                    <a:bodyPr/>
                    <a:lstStyle/>
                    <a:p>
                      <a:r>
                        <a:rPr sz="900" b="0">
                          <a:solidFill>
                            <a:schemeClr val="tx1"/>
                          </a:solidFill>
                        </a:rPr>
                        <a:t>Buildings</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3"/>
                  </a:ext>
                </a:extLst>
              </a:tr>
              <a:tr h="251460">
                <a:tc>
                  <a:txBody>
                    <a:bodyPr/>
                    <a:lstStyle/>
                    <a:p>
                      <a:r>
                        <a:rPr sz="900" b="0">
                          <a:solidFill>
                            <a:schemeClr val="tx1"/>
                          </a:solidFill>
                        </a:rPr>
                        <a:t>21</a:t>
                      </a:r>
                    </a:p>
                  </a:txBody>
                  <a:tcPr marL="50800" marR="50800" marT="25400" marB="25400">
                    <a:solidFill>
                      <a:schemeClr val="bg1"/>
                    </a:solidFill>
                  </a:tcPr>
                </a:tc>
                <a:tc>
                  <a:txBody>
                    <a:bodyPr/>
                    <a:lstStyle/>
                    <a:p>
                      <a:r>
                        <a:rPr sz="900" b="0">
                          <a:solidFill>
                            <a:schemeClr val="tx1"/>
                          </a:solidFill>
                        </a:rPr>
                        <a:t>Reforestation (Active Forest Expansion)</a:t>
                      </a:r>
                    </a:p>
                  </a:txBody>
                  <a:tcPr marL="50800" marR="50800" marT="25400" marB="25400">
                    <a:solidFill>
                      <a:schemeClr val="bg1"/>
                    </a:solidFill>
                  </a:tcPr>
                </a:tc>
                <a:tc>
                  <a:txBody>
                    <a:bodyPr/>
                    <a:lstStyle/>
                    <a:p>
                      <a:r>
                        <a:rPr sz="900" b="0">
                          <a:solidFill>
                            <a:schemeClr val="tx1"/>
                          </a:solidFill>
                        </a:rPr>
                        <a:t>Land Use</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4"/>
                  </a:ext>
                </a:extLst>
              </a:tr>
              <a:tr h="251460">
                <a:tc>
                  <a:txBody>
                    <a:bodyPr/>
                    <a:lstStyle/>
                    <a:p>
                      <a:r>
                        <a:rPr sz="900" b="0">
                          <a:solidFill>
                            <a:schemeClr val="tx1"/>
                          </a:solidFill>
                        </a:rPr>
                        <a:t>19</a:t>
                      </a:r>
                    </a:p>
                  </a:txBody>
                  <a:tcPr marL="50800" marR="50800" marT="25400" marB="25400">
                    <a:solidFill>
                      <a:schemeClr val="bg1"/>
                    </a:solidFill>
                  </a:tcPr>
                </a:tc>
                <a:tc>
                  <a:txBody>
                    <a:bodyPr/>
                    <a:lstStyle/>
                    <a:p>
                      <a:r>
                        <a:rPr sz="900" b="0">
                          <a:solidFill>
                            <a:schemeClr val="tx1"/>
                          </a:solidFill>
                        </a:rPr>
                        <a:t>Deforestation Reduction</a:t>
                      </a:r>
                    </a:p>
                  </a:txBody>
                  <a:tcPr marL="50800" marR="50800" marT="25400" marB="25400">
                    <a:solidFill>
                      <a:schemeClr val="bg1"/>
                    </a:solidFill>
                  </a:tcPr>
                </a:tc>
                <a:tc>
                  <a:txBody>
                    <a:bodyPr/>
                    <a:lstStyle/>
                    <a:p>
                      <a:r>
                        <a:rPr sz="900" b="0">
                          <a:solidFill>
                            <a:schemeClr val="tx1"/>
                          </a:solidFill>
                        </a:rPr>
                        <a:t>Land Use</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5"/>
                  </a:ext>
                </a:extLst>
              </a:tr>
              <a:tr h="251460">
                <a:tc>
                  <a:txBody>
                    <a:bodyPr/>
                    <a:lstStyle/>
                    <a:p>
                      <a:r>
                        <a:rPr sz="900" b="0">
                          <a:solidFill>
                            <a:schemeClr val="tx1"/>
                          </a:solidFill>
                        </a:rPr>
                        <a:t>3</a:t>
                      </a:r>
                    </a:p>
                  </a:txBody>
                  <a:tcPr marL="50800" marR="50800" marT="25400" marB="25400">
                    <a:solidFill>
                      <a:schemeClr val="bg1"/>
                    </a:solidFill>
                  </a:tcPr>
                </a:tc>
                <a:tc>
                  <a:txBody>
                    <a:bodyPr/>
                    <a:lstStyle/>
                    <a:p>
                      <a:r>
                        <a:rPr sz="900" b="0">
                          <a:solidFill>
                            <a:schemeClr val="tx1"/>
                          </a:solidFill>
                        </a:rPr>
                        <a:t>Conservation Agriculture (No-Till)</a:t>
                      </a:r>
                    </a:p>
                  </a:txBody>
                  <a:tcPr marL="50800" marR="50800" marT="25400" marB="25400">
                    <a:solidFill>
                      <a:schemeClr val="bg1"/>
                    </a:solidFill>
                  </a:tcPr>
                </a:tc>
                <a:tc>
                  <a:txBody>
                    <a:bodyPr/>
                    <a:lstStyle/>
                    <a:p>
                      <a:r>
                        <a:rPr sz="900" b="0">
                          <a:solidFill>
                            <a:schemeClr val="tx1"/>
                          </a:solidFill>
                        </a:rPr>
                        <a:t>Agriculture</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6"/>
                  </a:ext>
                </a:extLst>
              </a:tr>
              <a:tr h="251460">
                <a:tc>
                  <a:txBody>
                    <a:bodyPr/>
                    <a:lstStyle/>
                    <a:p>
                      <a:r>
                        <a:rPr sz="900" b="0">
                          <a:solidFill>
                            <a:schemeClr val="tx1"/>
                          </a:solidFill>
                        </a:rPr>
                        <a:t>4</a:t>
                      </a:r>
                    </a:p>
                  </a:txBody>
                  <a:tcPr marL="50800" marR="50800" marT="25400" marB="25400">
                    <a:solidFill>
                      <a:schemeClr val="bg1"/>
                    </a:solidFill>
                  </a:tcPr>
                </a:tc>
                <a:tc>
                  <a:txBody>
                    <a:bodyPr/>
                    <a:lstStyle/>
                    <a:p>
                      <a:r>
                        <a:rPr sz="900" b="0">
                          <a:solidFill>
                            <a:schemeClr val="tx1"/>
                          </a:solidFill>
                        </a:rPr>
                        <a:t>Crop Yield Improvement</a:t>
                      </a:r>
                    </a:p>
                  </a:txBody>
                  <a:tcPr marL="50800" marR="50800" marT="25400" marB="25400">
                    <a:solidFill>
                      <a:schemeClr val="bg1"/>
                    </a:solidFill>
                  </a:tcPr>
                </a:tc>
                <a:tc>
                  <a:txBody>
                    <a:bodyPr/>
                    <a:lstStyle/>
                    <a:p>
                      <a:r>
                        <a:rPr sz="900" b="0">
                          <a:solidFill>
                            <a:schemeClr val="tx1"/>
                          </a:solidFill>
                        </a:rPr>
                        <a:t>Agriculture</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7"/>
                  </a:ext>
                </a:extLst>
              </a:tr>
              <a:tr h="251460">
                <a:tc>
                  <a:txBody>
                    <a:bodyPr/>
                    <a:lstStyle/>
                    <a:p>
                      <a:r>
                        <a:rPr sz="900" b="0">
                          <a:solidFill>
                            <a:schemeClr val="tx1"/>
                          </a:solidFill>
                        </a:rPr>
                        <a:t>36</a:t>
                      </a:r>
                    </a:p>
                  </a:txBody>
                  <a:tcPr marL="50800" marR="50800" marT="25400" marB="25400">
                    <a:solidFill>
                      <a:schemeClr val="bg1"/>
                    </a:solidFill>
                  </a:tcPr>
                </a:tc>
                <a:tc>
                  <a:txBody>
                    <a:bodyPr/>
                    <a:lstStyle/>
                    <a:p>
                      <a:r>
                        <a:rPr sz="900" b="0">
                          <a:solidFill>
                            <a:schemeClr val="tx1"/>
                          </a:solidFill>
                        </a:rPr>
                        <a:t>Nitrogen Fertilizer Reduction</a:t>
                      </a:r>
                    </a:p>
                  </a:txBody>
                  <a:tcPr marL="50800" marR="50800" marT="25400" marB="25400">
                    <a:solidFill>
                      <a:schemeClr val="bg1"/>
                    </a:solidFill>
                  </a:tcPr>
                </a:tc>
                <a:tc>
                  <a:txBody>
                    <a:bodyPr/>
                    <a:lstStyle/>
                    <a:p>
                      <a:r>
                        <a:rPr sz="900" b="0">
                          <a:solidFill>
                            <a:schemeClr val="tx1"/>
                          </a:solidFill>
                        </a:rPr>
                        <a:t>Agriculture</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8"/>
                  </a:ext>
                </a:extLst>
              </a:tr>
              <a:tr h="251460">
                <a:tc>
                  <a:txBody>
                    <a:bodyPr/>
                    <a:lstStyle/>
                    <a:p>
                      <a:r>
                        <a:rPr sz="900" b="0">
                          <a:solidFill>
                            <a:schemeClr val="tx1"/>
                          </a:solidFill>
                        </a:rPr>
                        <a:t>2</a:t>
                      </a:r>
                    </a:p>
                  </a:txBody>
                  <a:tcPr marL="50800" marR="50800" marT="25400" marB="25400">
                    <a:solidFill>
                      <a:schemeClr val="bg1"/>
                    </a:solidFill>
                  </a:tcPr>
                </a:tc>
                <a:tc>
                  <a:txBody>
                    <a:bodyPr/>
                    <a:lstStyle/>
                    <a:p>
                      <a:r>
                        <a:rPr sz="900" b="0">
                          <a:solidFill>
                            <a:schemeClr val="tx1"/>
                          </a:solidFill>
                        </a:rPr>
                        <a:t>Agricultural Food Loss Reduction</a:t>
                      </a:r>
                    </a:p>
                  </a:txBody>
                  <a:tcPr marL="50800" marR="50800" marT="25400" marB="25400">
                    <a:solidFill>
                      <a:schemeClr val="bg1"/>
                    </a:solidFill>
                  </a:tcPr>
                </a:tc>
                <a:tc>
                  <a:txBody>
                    <a:bodyPr/>
                    <a:lstStyle/>
                    <a:p>
                      <a:r>
                        <a:rPr sz="900" b="0">
                          <a:solidFill>
                            <a:schemeClr val="tx1"/>
                          </a:solidFill>
                        </a:rPr>
                        <a:t>Agriculture</a:t>
                      </a:r>
                    </a:p>
                  </a:txBody>
                  <a:tcPr marL="50800" marR="50800" marT="25400" marB="25400">
                    <a:solidFill>
                      <a:schemeClr val="bg1"/>
                    </a:solidFill>
                  </a:tcPr>
                </a:tc>
                <a:tc>
                  <a:txBody>
                    <a:bodyPr/>
                    <a:lstStyle/>
                    <a:p>
                      <a:r>
                        <a:rPr sz="900" b="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09"/>
                  </a:ext>
                </a:extLst>
              </a:tr>
              <a:tr h="251460">
                <a:tc>
                  <a:txBody>
                    <a:bodyPr/>
                    <a:lstStyle/>
                    <a:p>
                      <a:r>
                        <a:rPr sz="900" b="0">
                          <a:solidFill>
                            <a:schemeClr val="tx1"/>
                          </a:solidFill>
                        </a:rPr>
                        <a:t>1</a:t>
                      </a:r>
                    </a:p>
                  </a:txBody>
                  <a:tcPr marL="50800" marR="50800" marT="25400" marB="25400">
                    <a:solidFill>
                      <a:schemeClr val="bg1"/>
                    </a:solidFill>
                  </a:tcPr>
                </a:tc>
                <a:tc>
                  <a:txBody>
                    <a:bodyPr/>
                    <a:lstStyle/>
                    <a:p>
                      <a:r>
                        <a:rPr sz="900" b="0" dirty="0">
                          <a:solidFill>
                            <a:schemeClr val="tx1"/>
                          </a:solidFill>
                        </a:rPr>
                        <a:t>Rice Paddy Methane Reduction</a:t>
                      </a:r>
                    </a:p>
                  </a:txBody>
                  <a:tcPr marL="50800" marR="50800" marT="25400" marB="25400">
                    <a:solidFill>
                      <a:schemeClr val="bg1"/>
                    </a:solidFill>
                  </a:tcPr>
                </a:tc>
                <a:tc>
                  <a:txBody>
                    <a:bodyPr/>
                    <a:lstStyle/>
                    <a:p>
                      <a:r>
                        <a:rPr sz="900" b="0">
                          <a:solidFill>
                            <a:schemeClr val="tx1"/>
                          </a:solidFill>
                        </a:rPr>
                        <a:t>Agriculture</a:t>
                      </a:r>
                    </a:p>
                  </a:txBody>
                  <a:tcPr marL="50800" marR="50800" marT="25400" marB="25400">
                    <a:solidFill>
                      <a:schemeClr val="bg1"/>
                    </a:solidFill>
                  </a:tcPr>
                </a:tc>
                <a:tc>
                  <a:txBody>
                    <a:bodyPr/>
                    <a:lstStyle/>
                    <a:p>
                      <a:r>
                        <a:rPr sz="900" b="0" dirty="0">
                          <a:solidFill>
                            <a:schemeClr val="tx1"/>
                          </a:solidFill>
                        </a:rPr>
                        <a:t>0.9</a:t>
                      </a:r>
                    </a:p>
                  </a:txBody>
                  <a:tcPr marL="50800" marR="50800" marT="25400" marB="25400">
                    <a:solidFill>
                      <a:schemeClr val="bg1"/>
                    </a:solidFill>
                  </a:tcPr>
                </a:tc>
                <a:extLst>
                  <a:ext uri="{0D108BD9-81ED-4DB2-BD59-A6C34878D82A}">
                    <a16:rowId xmlns:a16="http://schemas.microsoft.com/office/drawing/2014/main" val="10010"/>
                  </a:ext>
                </a:extLst>
              </a:tr>
            </a:tbl>
          </a:graphicData>
        </a:graphic>
      </p:graphicFrame>
      <p:pic>
        <p:nvPicPr>
          <p:cNvPr id="14" name="Imagen 13">
            <a:extLst>
              <a:ext uri="{FF2B5EF4-FFF2-40B4-BE49-F238E27FC236}">
                <a16:creationId xmlns:a16="http://schemas.microsoft.com/office/drawing/2014/main" id="{57EC4A19-80B7-068D-6BB4-9D11470F17AC}"/>
              </a:ext>
            </a:extLst>
          </p:cNvPr>
          <p:cNvPicPr>
            <a:picLocks noChangeAspect="1"/>
          </p:cNvPicPr>
          <p:nvPr/>
        </p:nvPicPr>
        <p:blipFill>
          <a:blip r:embed="rId2"/>
          <a:stretch>
            <a:fillRect/>
          </a:stretch>
        </p:blipFill>
        <p:spPr>
          <a:xfrm>
            <a:off x="6071799" y="1945386"/>
            <a:ext cx="5815401" cy="2967228"/>
          </a:xfrm>
          <a:prstGeom prst="rect">
            <a:avLst/>
          </a:prstGeom>
        </p:spPr>
      </p:pic>
      <p:sp>
        <p:nvSpPr>
          <p:cNvPr id="15" name="CuadroTexto 14">
            <a:extLst>
              <a:ext uri="{FF2B5EF4-FFF2-40B4-BE49-F238E27FC236}">
                <a16:creationId xmlns:a16="http://schemas.microsoft.com/office/drawing/2014/main" id="{235C4CD8-7410-7BEE-A27B-33049C9A1711}"/>
              </a:ext>
            </a:extLst>
          </p:cNvPr>
          <p:cNvSpPr txBox="1"/>
          <p:nvPr/>
        </p:nvSpPr>
        <p:spPr>
          <a:xfrm>
            <a:off x="457200" y="5858686"/>
            <a:ext cx="8002575" cy="584775"/>
          </a:xfrm>
          <a:prstGeom prst="rect">
            <a:avLst/>
          </a:prstGeom>
          <a:noFill/>
        </p:spPr>
        <p:txBody>
          <a:bodyPr wrap="none" rtlCol="0">
            <a:spAutoFit/>
          </a:bodyPr>
          <a:lstStyle/>
          <a:p>
            <a:r>
              <a:rPr lang="es-MX" sz="1600" u="sng" dirty="0"/>
              <a:t>The agent selected the group of variables that needed to change based on the user question.</a:t>
            </a:r>
          </a:p>
          <a:p>
            <a:r>
              <a:rPr lang="es-MX" sz="1600" u="sng" dirty="0"/>
              <a:t>The comparison with the manual run of the xgboost led to the same results shown in the logs.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B61126A-276B-5BC7-D2CF-41C032864C82}"/>
              </a:ext>
            </a:extLst>
          </p:cNvPr>
          <p:cNvPicPr>
            <a:picLocks noChangeAspect="1"/>
          </p:cNvPicPr>
          <p:nvPr/>
        </p:nvPicPr>
        <p:blipFill>
          <a:blip r:embed="rId2"/>
          <a:stretch>
            <a:fillRect/>
          </a:stretch>
        </p:blipFill>
        <p:spPr>
          <a:xfrm>
            <a:off x="557212" y="1024792"/>
            <a:ext cx="7772400" cy="4167539"/>
          </a:xfrm>
          <a:prstGeom prst="rect">
            <a:avLst/>
          </a:prstGeom>
        </p:spPr>
      </p:pic>
      <p:sp>
        <p:nvSpPr>
          <p:cNvPr id="4" name="TextBox 5">
            <a:extLst>
              <a:ext uri="{FF2B5EF4-FFF2-40B4-BE49-F238E27FC236}">
                <a16:creationId xmlns:a16="http://schemas.microsoft.com/office/drawing/2014/main" id="{C81BFAF2-6ECC-383D-3289-A216253A51DA}"/>
              </a:ext>
            </a:extLst>
          </p:cNvPr>
          <p:cNvSpPr txBox="1"/>
          <p:nvPr/>
        </p:nvSpPr>
        <p:spPr>
          <a:xfrm>
            <a:off x="406400" y="460248"/>
            <a:ext cx="11247120" cy="276999"/>
          </a:xfrm>
          <a:prstGeom prst="rect">
            <a:avLst/>
          </a:prstGeom>
          <a:noFill/>
        </p:spPr>
        <p:txBody>
          <a:bodyPr wrap="square">
            <a:spAutoFit/>
          </a:bodyPr>
          <a:lstStyle/>
          <a:p>
            <a:pPr algn="l"/>
            <a:r>
              <a:rPr lang="es-419" sz="1200" b="1" i="1" dirty="0"/>
              <a:t>Logs results example</a:t>
            </a:r>
            <a:endParaRPr sz="1200" b="1" i="1" dirty="0"/>
          </a:p>
        </p:txBody>
      </p:sp>
      <p:sp>
        <p:nvSpPr>
          <p:cNvPr id="5" name="CuadroTexto 4">
            <a:extLst>
              <a:ext uri="{FF2B5EF4-FFF2-40B4-BE49-F238E27FC236}">
                <a16:creationId xmlns:a16="http://schemas.microsoft.com/office/drawing/2014/main" id="{3BF29488-3C19-39D4-1287-E2DBFB467E4F}"/>
              </a:ext>
            </a:extLst>
          </p:cNvPr>
          <p:cNvSpPr txBox="1"/>
          <p:nvPr/>
        </p:nvSpPr>
        <p:spPr>
          <a:xfrm>
            <a:off x="4443412" y="5833208"/>
            <a:ext cx="7497565" cy="646331"/>
          </a:xfrm>
          <a:prstGeom prst="rect">
            <a:avLst/>
          </a:prstGeom>
          <a:noFill/>
        </p:spPr>
        <p:txBody>
          <a:bodyPr wrap="none" rtlCol="0">
            <a:spAutoFit/>
          </a:bodyPr>
          <a:lstStyle/>
          <a:p>
            <a:r>
              <a:rPr lang="es-MX" u="sng" dirty="0"/>
              <a:t>An example of the information saved for each question asked of the chatbot. </a:t>
            </a:r>
          </a:p>
          <a:p>
            <a:r>
              <a:rPr lang="es-MX" u="sng" dirty="0"/>
              <a:t>This helps evaluate the results and compare them manually with the xgboost.</a:t>
            </a:r>
            <a:endParaRPr lang="es-MX" sz="1600" u="sng" dirty="0"/>
          </a:p>
        </p:txBody>
      </p:sp>
    </p:spTree>
    <p:extLst>
      <p:ext uri="{BB962C8B-B14F-4D97-AF65-F5344CB8AC3E}">
        <p14:creationId xmlns:p14="http://schemas.microsoft.com/office/powerpoint/2010/main" val="22699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384048"/>
          </a:xfrm>
          <a:prstGeom prst="rect">
            <a:avLst/>
          </a:prstGeom>
          <a:noFill/>
        </p:spPr>
        <p:txBody>
          <a:bodyPr wrap="square">
            <a:spAutoFit/>
          </a:bodyPr>
          <a:lstStyle/>
          <a:p>
            <a:pPr algn="l"/>
            <a:r>
              <a:rPr sz="1350" b="1" i="0">
                <a:solidFill>
                  <a:srgbClr val="D90429"/>
                </a:solidFill>
              </a:rPr>
              <a:t>PART 2 — Current Limitation: Cost &amp; Benefit Analysis is Aggregated Only</a:t>
            </a:r>
          </a:p>
        </p:txBody>
      </p:sp>
      <p:sp>
        <p:nvSpPr>
          <p:cNvPr id="22" name="CuadroTexto 21">
            <a:extLst>
              <a:ext uri="{FF2B5EF4-FFF2-40B4-BE49-F238E27FC236}">
                <a16:creationId xmlns:a16="http://schemas.microsoft.com/office/drawing/2014/main" id="{A6A9601E-9B49-0C35-5992-B74D367EE7DA}"/>
              </a:ext>
            </a:extLst>
          </p:cNvPr>
          <p:cNvSpPr txBox="1"/>
          <p:nvPr/>
        </p:nvSpPr>
        <p:spPr>
          <a:xfrm>
            <a:off x="398462" y="886936"/>
            <a:ext cx="11391900" cy="646331"/>
          </a:xfrm>
          <a:prstGeom prst="rect">
            <a:avLst/>
          </a:prstGeom>
          <a:noFill/>
        </p:spPr>
        <p:txBody>
          <a:bodyPr wrap="square">
            <a:spAutoFit/>
          </a:bodyPr>
          <a:lstStyle/>
          <a:p>
            <a:pPr algn="l">
              <a:buNone/>
            </a:pPr>
            <a:r>
              <a:rPr lang="es-MX" sz="1200" b="1" i="1" dirty="0">
                <a:solidFill>
                  <a:srgbClr val="26211A"/>
                </a:solidFill>
                <a:effectLst/>
                <a:latin typeface="Calibri" panose="020F0502020204030204" pitchFamily="34" charset="0"/>
                <a:cs typeface="Calibri" panose="020F0502020204030204" pitchFamily="34" charset="0"/>
              </a:rPr>
              <a:t>What are the costs and benefits of implementing a policy to replace current stoves with electric ones?</a:t>
            </a:r>
            <a:endParaRPr lang="es-MX" sz="1200" b="1" i="1" dirty="0">
              <a:solidFill>
                <a:srgbClr val="B8860B"/>
              </a:solidFill>
              <a:effectLst/>
              <a:latin typeface="Calibri" panose="020F0502020204030204" pitchFamily="34" charset="0"/>
              <a:cs typeface="Calibri" panose="020F0502020204030204" pitchFamily="34" charset="0"/>
            </a:endParaRPr>
          </a:p>
          <a:p>
            <a:pPr>
              <a:buNone/>
            </a:pPr>
            <a:br>
              <a:rPr lang="es-MX" sz="1200" b="1" i="1" dirty="0">
                <a:latin typeface="Calibri" panose="020F0502020204030204" pitchFamily="34" charset="0"/>
                <a:cs typeface="Calibri" panose="020F0502020204030204" pitchFamily="34" charset="0"/>
              </a:rPr>
            </a:br>
            <a:endParaRPr lang="es-MX" sz="1200" b="1" i="1" dirty="0">
              <a:latin typeface="Calibri" panose="020F0502020204030204" pitchFamily="34" charset="0"/>
              <a:cs typeface="Calibri" panose="020F0502020204030204" pitchFamily="34" charset="0"/>
            </a:endParaRPr>
          </a:p>
        </p:txBody>
      </p:sp>
      <p:pic>
        <p:nvPicPr>
          <p:cNvPr id="24" name="Imagen 23">
            <a:extLst>
              <a:ext uri="{FF2B5EF4-FFF2-40B4-BE49-F238E27FC236}">
                <a16:creationId xmlns:a16="http://schemas.microsoft.com/office/drawing/2014/main" id="{7ACDFB55-F257-0EE6-FE80-20EAF31E8AAB}"/>
              </a:ext>
            </a:extLst>
          </p:cNvPr>
          <p:cNvPicPr>
            <a:picLocks noChangeAspect="1"/>
          </p:cNvPicPr>
          <p:nvPr/>
        </p:nvPicPr>
        <p:blipFill>
          <a:blip r:embed="rId2"/>
          <a:stretch>
            <a:fillRect/>
          </a:stretch>
        </p:blipFill>
        <p:spPr>
          <a:xfrm>
            <a:off x="398462" y="1485900"/>
            <a:ext cx="4724400" cy="3886200"/>
          </a:xfrm>
          <a:prstGeom prst="rect">
            <a:avLst/>
          </a:prstGeom>
        </p:spPr>
      </p:pic>
      <p:pic>
        <p:nvPicPr>
          <p:cNvPr id="26" name="Imagen 25">
            <a:extLst>
              <a:ext uri="{FF2B5EF4-FFF2-40B4-BE49-F238E27FC236}">
                <a16:creationId xmlns:a16="http://schemas.microsoft.com/office/drawing/2014/main" id="{79B3BB17-7F9C-840A-47F0-C22976DCF772}"/>
              </a:ext>
            </a:extLst>
          </p:cNvPr>
          <p:cNvPicPr>
            <a:picLocks noChangeAspect="1"/>
          </p:cNvPicPr>
          <p:nvPr/>
        </p:nvPicPr>
        <p:blipFill>
          <a:blip r:embed="rId3"/>
          <a:stretch>
            <a:fillRect/>
          </a:stretch>
        </p:blipFill>
        <p:spPr>
          <a:xfrm>
            <a:off x="5370512" y="1485900"/>
            <a:ext cx="4749800" cy="3416300"/>
          </a:xfrm>
          <a:prstGeom prst="rect">
            <a:avLst/>
          </a:prstGeom>
        </p:spPr>
      </p:pic>
      <p:sp>
        <p:nvSpPr>
          <p:cNvPr id="27" name="TextBox 4">
            <a:extLst>
              <a:ext uri="{FF2B5EF4-FFF2-40B4-BE49-F238E27FC236}">
                <a16:creationId xmlns:a16="http://schemas.microsoft.com/office/drawing/2014/main" id="{F720EF6D-F6C2-2D20-0953-64329D792489}"/>
              </a:ext>
            </a:extLst>
          </p:cNvPr>
          <p:cNvSpPr txBox="1"/>
          <p:nvPr/>
        </p:nvSpPr>
        <p:spPr>
          <a:xfrm>
            <a:off x="398462" y="662972"/>
            <a:ext cx="1828800" cy="256032"/>
          </a:xfrm>
          <a:prstGeom prst="rect">
            <a:avLst/>
          </a:prstGeom>
          <a:noFill/>
        </p:spPr>
        <p:txBody>
          <a:bodyPr wrap="square">
            <a:spAutoFit/>
          </a:bodyPr>
          <a:lstStyle/>
          <a:p>
            <a:pPr algn="l"/>
            <a:r>
              <a:rPr sz="950" b="0" i="0" dirty="0">
                <a:solidFill>
                  <a:srgbClr val="8A8F9E"/>
                </a:solidFill>
              </a:rPr>
              <a:t>User question:</a:t>
            </a:r>
          </a:p>
        </p:txBody>
      </p:sp>
      <p:sp>
        <p:nvSpPr>
          <p:cNvPr id="28" name="CuadroTexto 27">
            <a:extLst>
              <a:ext uri="{FF2B5EF4-FFF2-40B4-BE49-F238E27FC236}">
                <a16:creationId xmlns:a16="http://schemas.microsoft.com/office/drawing/2014/main" id="{EA2A660E-6C0B-CC5F-CE05-26FB99304A60}"/>
              </a:ext>
            </a:extLst>
          </p:cNvPr>
          <p:cNvSpPr txBox="1"/>
          <p:nvPr/>
        </p:nvSpPr>
        <p:spPr>
          <a:xfrm>
            <a:off x="398462" y="5841085"/>
            <a:ext cx="7322967" cy="892552"/>
          </a:xfrm>
          <a:prstGeom prst="rect">
            <a:avLst/>
          </a:prstGeom>
          <a:noFill/>
        </p:spPr>
        <p:txBody>
          <a:bodyPr wrap="none" rtlCol="0">
            <a:spAutoFit/>
          </a:bodyPr>
          <a:lstStyle/>
          <a:p>
            <a:r>
              <a:rPr lang="es-MX" sz="1200" u="sng" dirty="0"/>
              <a:t>Although the current model does not predict costs and benefits by sector, the agent runs the model, </a:t>
            </a:r>
          </a:p>
          <a:p>
            <a:r>
              <a:rPr lang="es-MX" sz="1200" u="sng" dirty="0"/>
              <a:t>keeping all other factors constant and changing only the variables related to the policy mentioned in the question, </a:t>
            </a:r>
          </a:p>
          <a:p>
            <a:r>
              <a:rPr lang="es-MX" sz="1200" u="sng" dirty="0"/>
              <a:t>and then evaluates the change in the aggregate costs and benefits. </a:t>
            </a:r>
          </a:p>
          <a:p>
            <a:endParaRPr lang="es-MX" sz="1600" u="sng" dirty="0"/>
          </a:p>
        </p:txBody>
      </p:sp>
      <p:sp>
        <p:nvSpPr>
          <p:cNvPr id="30" name="Rectángulo 29">
            <a:extLst>
              <a:ext uri="{FF2B5EF4-FFF2-40B4-BE49-F238E27FC236}">
                <a16:creationId xmlns:a16="http://schemas.microsoft.com/office/drawing/2014/main" id="{1591E355-8FF9-2FDD-C3E3-6A73CE26FB7F}"/>
              </a:ext>
            </a:extLst>
          </p:cNvPr>
          <p:cNvSpPr/>
          <p:nvPr/>
        </p:nvSpPr>
        <p:spPr>
          <a:xfrm>
            <a:off x="5433218" y="2425435"/>
            <a:ext cx="4624388" cy="444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CuadroTexto 30">
            <a:extLst>
              <a:ext uri="{FF2B5EF4-FFF2-40B4-BE49-F238E27FC236}">
                <a16:creationId xmlns:a16="http://schemas.microsoft.com/office/drawing/2014/main" id="{F2DC7AC3-92C2-FF18-DD65-0DB6A44540B6}"/>
              </a:ext>
            </a:extLst>
          </p:cNvPr>
          <p:cNvSpPr txBox="1"/>
          <p:nvPr/>
        </p:nvSpPr>
        <p:spPr>
          <a:xfrm>
            <a:off x="10120312" y="2425435"/>
            <a:ext cx="2819400" cy="830997"/>
          </a:xfrm>
          <a:prstGeom prst="rect">
            <a:avLst/>
          </a:prstGeom>
          <a:noFill/>
        </p:spPr>
        <p:txBody>
          <a:bodyPr wrap="square" rtlCol="0">
            <a:spAutoFit/>
          </a:bodyPr>
          <a:lstStyle/>
          <a:p>
            <a:r>
              <a:rPr lang="es-MX" sz="1200" dirty="0"/>
              <a:t>Note the mention of the use of </a:t>
            </a:r>
          </a:p>
          <a:p>
            <a:r>
              <a:rPr lang="es-MX" sz="1200" dirty="0"/>
              <a:t>general knowledge of the</a:t>
            </a:r>
          </a:p>
          <a:p>
            <a:r>
              <a:rPr lang="es-MX" sz="1200" dirty="0"/>
              <a:t>model in this part of the</a:t>
            </a:r>
          </a:p>
          <a:p>
            <a:r>
              <a:rPr lang="es-MX" sz="1200" dirty="0"/>
              <a:t>answer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CDD0EF4-4B20-7BC9-AD36-614DCCDB5AD7}"/>
              </a:ext>
            </a:extLst>
          </p:cNvPr>
          <p:cNvSpPr txBox="1"/>
          <p:nvPr/>
        </p:nvSpPr>
        <p:spPr>
          <a:xfrm>
            <a:off x="457200" y="722376"/>
            <a:ext cx="11391900" cy="461665"/>
          </a:xfrm>
          <a:prstGeom prst="rect">
            <a:avLst/>
          </a:prstGeom>
          <a:noFill/>
        </p:spPr>
        <p:txBody>
          <a:bodyPr wrap="square">
            <a:spAutoFit/>
          </a:bodyPr>
          <a:lstStyle/>
          <a:p>
            <a:pPr>
              <a:buNone/>
            </a:pPr>
            <a:r>
              <a:rPr lang="es-MX" sz="1200" b="1" i="1" dirty="0"/>
              <a:t>Can you produce a MAC curve for the net zero strategy?</a:t>
            </a:r>
            <a:br>
              <a:rPr lang="es-MX" sz="1200" b="1" i="1" dirty="0"/>
            </a:br>
            <a:endParaRPr lang="es-MX" sz="1200" b="1" i="1" dirty="0"/>
          </a:p>
        </p:txBody>
      </p:sp>
      <p:pic>
        <p:nvPicPr>
          <p:cNvPr id="4" name="Imagen 3">
            <a:extLst>
              <a:ext uri="{FF2B5EF4-FFF2-40B4-BE49-F238E27FC236}">
                <a16:creationId xmlns:a16="http://schemas.microsoft.com/office/drawing/2014/main" id="{31173509-0C0B-7BB4-9997-E0EE12FA1172}"/>
              </a:ext>
            </a:extLst>
          </p:cNvPr>
          <p:cNvPicPr>
            <a:picLocks noChangeAspect="1"/>
          </p:cNvPicPr>
          <p:nvPr/>
        </p:nvPicPr>
        <p:blipFill>
          <a:blip r:embed="rId2"/>
          <a:stretch>
            <a:fillRect/>
          </a:stretch>
        </p:blipFill>
        <p:spPr>
          <a:xfrm>
            <a:off x="457200" y="1250950"/>
            <a:ext cx="4775200" cy="3924300"/>
          </a:xfrm>
          <a:prstGeom prst="rect">
            <a:avLst/>
          </a:prstGeom>
        </p:spPr>
      </p:pic>
      <p:pic>
        <p:nvPicPr>
          <p:cNvPr id="6" name="Imagen 5">
            <a:extLst>
              <a:ext uri="{FF2B5EF4-FFF2-40B4-BE49-F238E27FC236}">
                <a16:creationId xmlns:a16="http://schemas.microsoft.com/office/drawing/2014/main" id="{EEE979F5-5802-0869-A670-7FF39AE66129}"/>
              </a:ext>
            </a:extLst>
          </p:cNvPr>
          <p:cNvPicPr>
            <a:picLocks noChangeAspect="1"/>
          </p:cNvPicPr>
          <p:nvPr/>
        </p:nvPicPr>
        <p:blipFill>
          <a:blip r:embed="rId3"/>
          <a:stretch>
            <a:fillRect/>
          </a:stretch>
        </p:blipFill>
        <p:spPr>
          <a:xfrm>
            <a:off x="5522912" y="1250950"/>
            <a:ext cx="4775200" cy="3860800"/>
          </a:xfrm>
          <a:prstGeom prst="rect">
            <a:avLst/>
          </a:prstGeom>
        </p:spPr>
      </p:pic>
      <p:sp>
        <p:nvSpPr>
          <p:cNvPr id="7" name="TextBox 4">
            <a:extLst>
              <a:ext uri="{FF2B5EF4-FFF2-40B4-BE49-F238E27FC236}">
                <a16:creationId xmlns:a16="http://schemas.microsoft.com/office/drawing/2014/main" id="{69FA4718-C8E9-2F74-2F89-6BBDC642D6DF}"/>
              </a:ext>
            </a:extLst>
          </p:cNvPr>
          <p:cNvSpPr txBox="1"/>
          <p:nvPr/>
        </p:nvSpPr>
        <p:spPr>
          <a:xfrm>
            <a:off x="457200" y="466344"/>
            <a:ext cx="1828800" cy="256032"/>
          </a:xfrm>
          <a:prstGeom prst="rect">
            <a:avLst/>
          </a:prstGeom>
          <a:noFill/>
        </p:spPr>
        <p:txBody>
          <a:bodyPr wrap="square">
            <a:spAutoFit/>
          </a:bodyPr>
          <a:lstStyle/>
          <a:p>
            <a:pPr algn="l"/>
            <a:r>
              <a:rPr sz="950" b="0" i="0" dirty="0">
                <a:solidFill>
                  <a:srgbClr val="8A8F9E"/>
                </a:solidFill>
              </a:rPr>
              <a:t>User question:</a:t>
            </a:r>
          </a:p>
        </p:txBody>
      </p:sp>
      <p:sp>
        <p:nvSpPr>
          <p:cNvPr id="8" name="CuadroTexto 7">
            <a:extLst>
              <a:ext uri="{FF2B5EF4-FFF2-40B4-BE49-F238E27FC236}">
                <a16:creationId xmlns:a16="http://schemas.microsoft.com/office/drawing/2014/main" id="{FFA8BE9D-A88B-2CF8-C997-C8509BA25974}"/>
              </a:ext>
            </a:extLst>
          </p:cNvPr>
          <p:cNvSpPr txBox="1"/>
          <p:nvPr/>
        </p:nvSpPr>
        <p:spPr>
          <a:xfrm>
            <a:off x="419100" y="5689348"/>
            <a:ext cx="5462265" cy="338554"/>
          </a:xfrm>
          <a:prstGeom prst="rect">
            <a:avLst/>
          </a:prstGeom>
          <a:noFill/>
        </p:spPr>
        <p:txBody>
          <a:bodyPr wrap="none" rtlCol="0">
            <a:spAutoFit/>
          </a:bodyPr>
          <a:lstStyle/>
          <a:p>
            <a:r>
              <a:rPr lang="es-MX" sz="1600" u="sng" dirty="0"/>
              <a:t>The agent has not instruction on how to create the MAC curve</a:t>
            </a:r>
          </a:p>
        </p:txBody>
      </p:sp>
    </p:spTree>
    <p:extLst>
      <p:ext uri="{BB962C8B-B14F-4D97-AF65-F5344CB8AC3E}">
        <p14:creationId xmlns:p14="http://schemas.microsoft.com/office/powerpoint/2010/main" val="55548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3B530A8-E364-EAC5-4429-4C58AF05C1A9}"/>
              </a:ext>
            </a:extLst>
          </p:cNvPr>
          <p:cNvPicPr>
            <a:picLocks noChangeAspect="1"/>
          </p:cNvPicPr>
          <p:nvPr/>
        </p:nvPicPr>
        <p:blipFill>
          <a:blip r:embed="rId2"/>
          <a:stretch>
            <a:fillRect/>
          </a:stretch>
        </p:blipFill>
        <p:spPr>
          <a:xfrm>
            <a:off x="1594641" y="1032673"/>
            <a:ext cx="7772400" cy="4487854"/>
          </a:xfrm>
          <a:prstGeom prst="rect">
            <a:avLst/>
          </a:prstGeom>
        </p:spPr>
      </p:pic>
      <p:sp>
        <p:nvSpPr>
          <p:cNvPr id="4" name="CuadroTexto 3">
            <a:extLst>
              <a:ext uri="{FF2B5EF4-FFF2-40B4-BE49-F238E27FC236}">
                <a16:creationId xmlns:a16="http://schemas.microsoft.com/office/drawing/2014/main" id="{8CCE324F-2090-77F8-40E6-E769B896758B}"/>
              </a:ext>
            </a:extLst>
          </p:cNvPr>
          <p:cNvSpPr txBox="1"/>
          <p:nvPr/>
        </p:nvSpPr>
        <p:spPr>
          <a:xfrm>
            <a:off x="896386" y="5930648"/>
            <a:ext cx="10396051" cy="461665"/>
          </a:xfrm>
          <a:prstGeom prst="rect">
            <a:avLst/>
          </a:prstGeom>
          <a:noFill/>
        </p:spPr>
        <p:txBody>
          <a:bodyPr wrap="none" rtlCol="0">
            <a:spAutoFit/>
          </a:bodyPr>
          <a:lstStyle/>
          <a:p>
            <a:r>
              <a:rPr lang="es-MX" sz="1200" u="sng" dirty="0"/>
              <a:t>The logs confirmed that all 15 runs were completed, but only the results from the last run are saved, which is part of the design for what should be saved in the logs</a:t>
            </a:r>
            <a:endParaRPr lang="es-MX" sz="1200" dirty="0"/>
          </a:p>
          <a:p>
            <a:endParaRPr lang="es-MX" sz="1200" u="sng" dirty="0"/>
          </a:p>
        </p:txBody>
      </p:sp>
    </p:spTree>
    <p:extLst>
      <p:ext uri="{BB962C8B-B14F-4D97-AF65-F5344CB8AC3E}">
        <p14:creationId xmlns:p14="http://schemas.microsoft.com/office/powerpoint/2010/main" val="3285840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DA10B-9015-C805-7341-1FAF960AF12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FCF01D1-1C4D-10A2-9C5C-C6E2CB3EB0F6}"/>
              </a:ext>
            </a:extLst>
          </p:cNvPr>
          <p:cNvSpPr txBox="1"/>
          <p:nvPr/>
        </p:nvSpPr>
        <p:spPr>
          <a:xfrm>
            <a:off x="457200" y="722376"/>
            <a:ext cx="11391900" cy="461665"/>
          </a:xfrm>
          <a:prstGeom prst="rect">
            <a:avLst/>
          </a:prstGeom>
          <a:noFill/>
        </p:spPr>
        <p:txBody>
          <a:bodyPr wrap="square">
            <a:spAutoFit/>
          </a:bodyPr>
          <a:lstStyle/>
          <a:p>
            <a:pPr>
              <a:buNone/>
            </a:pPr>
            <a:r>
              <a:rPr lang="es-MX" sz="1200" b="1" i="1" dirty="0"/>
              <a:t>How will emissions behave in 2075?</a:t>
            </a:r>
            <a:br>
              <a:rPr lang="es-MX" sz="1200" b="1" i="1" dirty="0"/>
            </a:br>
            <a:endParaRPr lang="es-MX" sz="1200" b="1" i="1" dirty="0"/>
          </a:p>
        </p:txBody>
      </p:sp>
      <p:sp>
        <p:nvSpPr>
          <p:cNvPr id="7" name="TextBox 4">
            <a:extLst>
              <a:ext uri="{FF2B5EF4-FFF2-40B4-BE49-F238E27FC236}">
                <a16:creationId xmlns:a16="http://schemas.microsoft.com/office/drawing/2014/main" id="{33458622-F158-6475-6C0B-ED145B673A92}"/>
              </a:ext>
            </a:extLst>
          </p:cNvPr>
          <p:cNvSpPr txBox="1"/>
          <p:nvPr/>
        </p:nvSpPr>
        <p:spPr>
          <a:xfrm>
            <a:off x="457200" y="466344"/>
            <a:ext cx="1828800" cy="256032"/>
          </a:xfrm>
          <a:prstGeom prst="rect">
            <a:avLst/>
          </a:prstGeom>
          <a:noFill/>
        </p:spPr>
        <p:txBody>
          <a:bodyPr wrap="square">
            <a:spAutoFit/>
          </a:bodyPr>
          <a:lstStyle/>
          <a:p>
            <a:pPr algn="l"/>
            <a:r>
              <a:rPr sz="950" b="0" i="0" dirty="0">
                <a:solidFill>
                  <a:srgbClr val="8A8F9E"/>
                </a:solidFill>
              </a:rPr>
              <a:t>User question:</a:t>
            </a:r>
          </a:p>
        </p:txBody>
      </p:sp>
      <p:sp>
        <p:nvSpPr>
          <p:cNvPr id="8" name="CuadroTexto 7">
            <a:extLst>
              <a:ext uri="{FF2B5EF4-FFF2-40B4-BE49-F238E27FC236}">
                <a16:creationId xmlns:a16="http://schemas.microsoft.com/office/drawing/2014/main" id="{D2B1628F-5971-81D7-79D7-648C7A868FE1}"/>
              </a:ext>
            </a:extLst>
          </p:cNvPr>
          <p:cNvSpPr txBox="1"/>
          <p:nvPr/>
        </p:nvSpPr>
        <p:spPr>
          <a:xfrm>
            <a:off x="352998" y="5797070"/>
            <a:ext cx="4808496" cy="338554"/>
          </a:xfrm>
          <a:prstGeom prst="rect">
            <a:avLst/>
          </a:prstGeom>
          <a:noFill/>
        </p:spPr>
        <p:txBody>
          <a:bodyPr wrap="none" rtlCol="0">
            <a:spAutoFit/>
          </a:bodyPr>
          <a:lstStyle/>
          <a:p>
            <a:r>
              <a:rPr lang="es-MX" sz="1600" u="sng" dirty="0"/>
              <a:t>Our predictions only last until 2070, the chatbot flags it </a:t>
            </a:r>
          </a:p>
        </p:txBody>
      </p:sp>
      <p:pic>
        <p:nvPicPr>
          <p:cNvPr id="5" name="Imagen 4">
            <a:extLst>
              <a:ext uri="{FF2B5EF4-FFF2-40B4-BE49-F238E27FC236}">
                <a16:creationId xmlns:a16="http://schemas.microsoft.com/office/drawing/2014/main" id="{8C332698-7E49-7D25-2C13-2CCF977BDB03}"/>
              </a:ext>
            </a:extLst>
          </p:cNvPr>
          <p:cNvPicPr>
            <a:picLocks noChangeAspect="1"/>
          </p:cNvPicPr>
          <p:nvPr/>
        </p:nvPicPr>
        <p:blipFill>
          <a:blip r:embed="rId2"/>
          <a:stretch>
            <a:fillRect/>
          </a:stretch>
        </p:blipFill>
        <p:spPr>
          <a:xfrm>
            <a:off x="576582" y="1049844"/>
            <a:ext cx="5238681" cy="4285561"/>
          </a:xfrm>
          <a:prstGeom prst="rect">
            <a:avLst/>
          </a:prstGeom>
        </p:spPr>
      </p:pic>
    </p:spTree>
    <p:extLst>
      <p:ext uri="{BB962C8B-B14F-4D97-AF65-F5344CB8AC3E}">
        <p14:creationId xmlns:p14="http://schemas.microsoft.com/office/powerpoint/2010/main" val="396055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5CD9999-3885-C6A9-DFB8-0B3C0DA6E02A}"/>
              </a:ext>
            </a:extLst>
          </p:cNvPr>
          <p:cNvPicPr>
            <a:picLocks noChangeAspect="1"/>
          </p:cNvPicPr>
          <p:nvPr/>
        </p:nvPicPr>
        <p:blipFill>
          <a:blip r:embed="rId2"/>
          <a:stretch>
            <a:fillRect/>
          </a:stretch>
        </p:blipFill>
        <p:spPr>
          <a:xfrm>
            <a:off x="220662" y="1828800"/>
            <a:ext cx="6042472" cy="3975100"/>
          </a:xfrm>
          <a:prstGeom prst="rect">
            <a:avLst/>
          </a:prstGeom>
        </p:spPr>
      </p:pic>
      <p:pic>
        <p:nvPicPr>
          <p:cNvPr id="5" name="Imagen 4">
            <a:extLst>
              <a:ext uri="{FF2B5EF4-FFF2-40B4-BE49-F238E27FC236}">
                <a16:creationId xmlns:a16="http://schemas.microsoft.com/office/drawing/2014/main" id="{2EE9ED3A-18D6-4C2D-5975-758CF4612FF3}"/>
              </a:ext>
            </a:extLst>
          </p:cNvPr>
          <p:cNvPicPr>
            <a:picLocks noChangeAspect="1"/>
          </p:cNvPicPr>
          <p:nvPr/>
        </p:nvPicPr>
        <p:blipFill>
          <a:blip r:embed="rId3"/>
          <a:stretch>
            <a:fillRect/>
          </a:stretch>
        </p:blipFill>
        <p:spPr>
          <a:xfrm>
            <a:off x="6426818" y="1778000"/>
            <a:ext cx="4972237" cy="4076700"/>
          </a:xfrm>
          <a:prstGeom prst="rect">
            <a:avLst/>
          </a:prstGeom>
        </p:spPr>
      </p:pic>
      <p:sp>
        <p:nvSpPr>
          <p:cNvPr id="6" name="TextBox 4">
            <a:extLst>
              <a:ext uri="{FF2B5EF4-FFF2-40B4-BE49-F238E27FC236}">
                <a16:creationId xmlns:a16="http://schemas.microsoft.com/office/drawing/2014/main" id="{8830B173-B7A4-A46B-7254-23536E5D0983}"/>
              </a:ext>
            </a:extLst>
          </p:cNvPr>
          <p:cNvSpPr txBox="1"/>
          <p:nvPr/>
        </p:nvSpPr>
        <p:spPr>
          <a:xfrm>
            <a:off x="457200" y="466344"/>
            <a:ext cx="1828800" cy="256032"/>
          </a:xfrm>
          <a:prstGeom prst="rect">
            <a:avLst/>
          </a:prstGeom>
          <a:noFill/>
        </p:spPr>
        <p:txBody>
          <a:bodyPr wrap="square">
            <a:spAutoFit/>
          </a:bodyPr>
          <a:lstStyle/>
          <a:p>
            <a:pPr algn="l"/>
            <a:r>
              <a:rPr sz="950" b="0" i="0" dirty="0">
                <a:solidFill>
                  <a:srgbClr val="8A8F9E"/>
                </a:solidFill>
              </a:rPr>
              <a:t>User question:</a:t>
            </a:r>
          </a:p>
        </p:txBody>
      </p:sp>
      <p:sp>
        <p:nvSpPr>
          <p:cNvPr id="7" name="CuadroTexto 6">
            <a:extLst>
              <a:ext uri="{FF2B5EF4-FFF2-40B4-BE49-F238E27FC236}">
                <a16:creationId xmlns:a16="http://schemas.microsoft.com/office/drawing/2014/main" id="{96CDE2FE-1DA0-C9AC-0861-DDBAD949A1CC}"/>
              </a:ext>
            </a:extLst>
          </p:cNvPr>
          <p:cNvSpPr txBox="1"/>
          <p:nvPr/>
        </p:nvSpPr>
        <p:spPr>
          <a:xfrm>
            <a:off x="457200" y="722376"/>
            <a:ext cx="11391900" cy="461665"/>
          </a:xfrm>
          <a:prstGeom prst="rect">
            <a:avLst/>
          </a:prstGeom>
          <a:noFill/>
        </p:spPr>
        <p:txBody>
          <a:bodyPr wrap="square">
            <a:spAutoFit/>
          </a:bodyPr>
          <a:lstStyle/>
          <a:p>
            <a:pPr>
              <a:buNone/>
            </a:pPr>
            <a:r>
              <a:rPr lang="es-MX" sz="1200" b="1" i="1" dirty="0"/>
              <a:t>What will be the emissions by sector in 2035??</a:t>
            </a:r>
            <a:br>
              <a:rPr lang="es-MX" sz="1200" b="1" i="1" dirty="0"/>
            </a:br>
            <a:endParaRPr lang="es-MX" sz="1200" b="1" i="1" dirty="0"/>
          </a:p>
        </p:txBody>
      </p:sp>
      <p:sp>
        <p:nvSpPr>
          <p:cNvPr id="8" name="CuadroTexto 7">
            <a:extLst>
              <a:ext uri="{FF2B5EF4-FFF2-40B4-BE49-F238E27FC236}">
                <a16:creationId xmlns:a16="http://schemas.microsoft.com/office/drawing/2014/main" id="{D63CB2F1-5BF7-958B-B0D7-58C87AD264B5}"/>
              </a:ext>
            </a:extLst>
          </p:cNvPr>
          <p:cNvSpPr txBox="1"/>
          <p:nvPr/>
        </p:nvSpPr>
        <p:spPr>
          <a:xfrm>
            <a:off x="341982" y="6053102"/>
            <a:ext cx="5905591" cy="338554"/>
          </a:xfrm>
          <a:prstGeom prst="rect">
            <a:avLst/>
          </a:prstGeom>
          <a:noFill/>
        </p:spPr>
        <p:txBody>
          <a:bodyPr wrap="none" rtlCol="0">
            <a:spAutoFit/>
          </a:bodyPr>
          <a:lstStyle/>
          <a:p>
            <a:r>
              <a:rPr lang="es-MX" sz="1600" u="sng" dirty="0"/>
              <a:t>Currently the model predict by sector for 2030, 2040, 2050 and 2070</a:t>
            </a:r>
          </a:p>
        </p:txBody>
      </p:sp>
    </p:spTree>
    <p:extLst>
      <p:ext uri="{BB962C8B-B14F-4D97-AF65-F5344CB8AC3E}">
        <p14:creationId xmlns:p14="http://schemas.microsoft.com/office/powerpoint/2010/main" val="2120104999"/>
      </p:ext>
    </p:extLst>
  </p:cSld>
  <p:clrMapOvr>
    <a:masterClrMapping/>
  </p:clrMapOvr>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TotalTime>
  <Words>416</Words>
  <Application>Microsoft Macintosh PowerPoint</Application>
  <PresentationFormat>Personalizado</PresentationFormat>
  <Paragraphs>75</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Calibri Light</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Alexa Jeressi Martínez Soto</cp:lastModifiedBy>
  <cp:revision>3</cp:revision>
  <dcterms:created xsi:type="dcterms:W3CDTF">2013-01-27T09:14:16Z</dcterms:created>
  <dcterms:modified xsi:type="dcterms:W3CDTF">2026-05-26T12:55:06Z</dcterms:modified>
  <cp:category/>
</cp:coreProperties>
</file>